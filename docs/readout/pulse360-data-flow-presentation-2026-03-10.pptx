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latin typeface="Aptos Display"/>
              </a:defRPr>
            </a:pPr>
            <a:r>
              <a:t>Pulse360 Data Flow and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100">
                <a:latin typeface="Aptos"/>
              </a:defRPr>
            </a:pPr>
            <a:r>
              <a:t>Source of truth: Salesforce CRM</a:t>
            </a:r>
          </a:p>
          <a:p>
            <a:pPr algn="l">
              <a:defRPr sz="2100">
                <a:latin typeface="Aptos"/>
              </a:defRPr>
            </a:pPr>
            <a:r>
              <a:t>Intelligence layer: Databricks</a:t>
            </a:r>
          </a:p>
          <a:p>
            <a:pPr algn="l">
              <a:defRPr sz="2100">
                <a:latin typeface="Aptos"/>
              </a:defRPr>
            </a:pPr>
            <a:r>
              <a:t>Modeling and activation: Data Cloud</a:t>
            </a:r>
          </a:p>
          <a:p>
            <a:pPr algn="l">
              <a:defRPr sz="2100">
                <a:latin typeface="Aptos"/>
              </a:defRPr>
            </a:pPr>
            <a:r>
              <a:t>Execution surface: Salesforce Account UI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latin typeface="Aptos Display"/>
              </a:defRPr>
            </a:pPr>
            <a:r>
              <a:t>End-to-End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100">
                <a:latin typeface="Aptos"/>
              </a:defRPr>
            </a:pPr>
            <a:r>
              <a:t>1. Salesforce CRM objects land in Databricks bronze_salesforce</a:t>
            </a:r>
          </a:p>
          <a:p>
            <a:pPr algn="l">
              <a:defRPr sz="2100">
                <a:latin typeface="Aptos"/>
              </a:defRPr>
            </a:pPr>
            <a:r>
              <a:t>2. Databricks normalizes them into silver_salesforce</a:t>
            </a:r>
          </a:p>
          <a:p>
            <a:pPr algn="l">
              <a:defRPr sz="2100">
                <a:latin typeface="Aptos"/>
              </a:defRPr>
            </a:pPr>
            <a:r>
              <a:t>3. Databricks runs dedupe, hierarchy, and enrichment in gold</a:t>
            </a:r>
          </a:p>
          <a:p>
            <a:pPr algn="l">
              <a:defRPr sz="2100">
                <a:latin typeface="Aptos"/>
              </a:defRPr>
            </a:pPr>
            <a:r>
              <a:t>4. Databricks exports CRM-key-safe account data to Data Cloud</a:t>
            </a:r>
          </a:p>
          <a:p>
            <a:pPr algn="l">
              <a:defRPr sz="2100">
                <a:latin typeface="Aptos"/>
              </a:defRPr>
            </a:pPr>
            <a:r>
              <a:t>5. Data Cloud maps the export into Account DMOs</a:t>
            </a:r>
          </a:p>
          <a:p>
            <a:pPr algn="l">
              <a:defRPr sz="2100">
                <a:latin typeface="Aptos"/>
              </a:defRPr>
            </a:pPr>
            <a:r>
              <a:t>6. Data Cloud activates enriched values back to Salesforce Account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latin typeface="Aptos Display"/>
              </a:defRPr>
            </a:pPr>
            <a:r>
              <a:t>Source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100">
                <a:latin typeface="Aptos"/>
              </a:defRPr>
            </a:pPr>
            <a:r>
              <a:t>Primary source: Salesforce CRM</a:t>
            </a:r>
          </a:p>
          <a:p>
            <a:pPr algn="l">
              <a:defRPr sz="2100">
                <a:latin typeface="Aptos"/>
              </a:defRPr>
            </a:pPr>
            <a:r>
              <a:t>Current ingested objects: Account, Contact, Opportunity, OpportunityContactRole, OpportunityLineItem, Product2</a:t>
            </a:r>
          </a:p>
          <a:p>
            <a:pPr algn="l">
              <a:defRPr sz="2100">
                <a:latin typeface="Aptos"/>
              </a:defRPr>
            </a:pPr>
            <a:r>
              <a:t>Why this matters: real Salesforce IDs are now preserved upstream</a:t>
            </a:r>
          </a:p>
          <a:p>
            <a:pPr algn="l">
              <a:defRPr sz="2100">
                <a:latin typeface="Aptos"/>
              </a:defRPr>
            </a:pPr>
            <a:r>
              <a:t>Writeback can now use the real Account.Id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latin typeface="Aptos Display"/>
              </a:defRPr>
            </a:pPr>
            <a:r>
              <a:t>Databricks Bronze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100">
                <a:latin typeface="Aptos"/>
              </a:defRPr>
            </a:pPr>
            <a:r>
              <a:t>Raw landing zone in pulse360_s4.bronze_salesforce</a:t>
            </a:r>
          </a:p>
          <a:p>
            <a:pPr algn="l">
              <a:defRPr sz="2100">
                <a:latin typeface="Aptos"/>
              </a:defRPr>
            </a:pPr>
            <a:r>
              <a:t>Preserves source fidelity and native Salesforce keys</a:t>
            </a:r>
          </a:p>
          <a:p>
            <a:pPr algn="l">
              <a:defRPr sz="2100">
                <a:latin typeface="Aptos"/>
              </a:defRPr>
            </a:pPr>
            <a:r>
              <a:t>Preserves SystemModstamp for incremental refresh</a:t>
            </a:r>
          </a:p>
          <a:p>
            <a:pPr algn="l">
              <a:defRPr sz="2100">
                <a:latin typeface="Aptos"/>
              </a:defRPr>
            </a:pPr>
            <a:r>
              <a:t>No business logic should live here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latin typeface="Aptos Display"/>
              </a:defRPr>
            </a:pPr>
            <a:r>
              <a:t>Databricks Silver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100">
                <a:latin typeface="Aptos"/>
              </a:defRPr>
            </a:pPr>
            <a:r>
              <a:t>Normalizes CRM objects and relationships into stable views</a:t>
            </a:r>
          </a:p>
          <a:p>
            <a:pPr algn="l">
              <a:defRPr sz="2100">
                <a:latin typeface="Aptos"/>
              </a:defRPr>
            </a:pPr>
            <a:r>
              <a:t>Current views: crm_account, crm_contact, crm_opportunity, crm_product</a:t>
            </a:r>
          </a:p>
          <a:p>
            <a:pPr algn="l">
              <a:defRPr sz="2100">
                <a:latin typeface="Aptos"/>
              </a:defRPr>
            </a:pPr>
            <a:r>
              <a:t>Relationship views: crm_account_contact_bridge and crm_account_hierarchy_edge</a:t>
            </a:r>
          </a:p>
          <a:p>
            <a:pPr algn="l">
              <a:defRPr sz="2100">
                <a:latin typeface="Aptos"/>
              </a:defRPr>
            </a:pPr>
            <a:r>
              <a:t>Key rule: crm_account_id remains the real Salesforce Account.Id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latin typeface="Aptos Display"/>
              </a:defRPr>
            </a:pPr>
            <a:r>
              <a:t>Databricks Gold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100">
                <a:latin typeface="Aptos"/>
              </a:defRPr>
            </a:pPr>
            <a:r>
              <a:t>This is where Pulse360 logic belongs</a:t>
            </a:r>
          </a:p>
          <a:p>
            <a:pPr algn="l">
              <a:defRPr sz="2100">
                <a:latin typeface="Aptos"/>
              </a:defRPr>
            </a:pPr>
            <a:r>
              <a:t>It cleans identity signals, detects duplicates, stitches hierarchy, and enriches accounts</a:t>
            </a:r>
          </a:p>
          <a:p>
            <a:pPr algn="l">
              <a:defRPr sz="2100">
                <a:latin typeface="Aptos"/>
              </a:defRPr>
            </a:pPr>
            <a:r>
              <a:t>It also calculates health, risk, engagement, and cross-sell signals</a:t>
            </a:r>
          </a:p>
          <a:p>
            <a:pPr algn="l">
              <a:defRPr sz="2100">
                <a:latin typeface="Aptos"/>
              </a:defRPr>
            </a:pPr>
            <a:r>
              <a:t>All outputs must still resolve back to crm_account_id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latin typeface="Aptos Display"/>
              </a:defRPr>
            </a:pPr>
            <a:r>
              <a:t>How Deduplication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100">
                <a:latin typeface="Aptos"/>
              </a:defRPr>
            </a:pPr>
            <a:r>
              <a:t>Primary input: silver_salesforce.crm_account</a:t>
            </a:r>
          </a:p>
          <a:p>
            <a:pPr algn="l">
              <a:defRPr sz="2100">
                <a:latin typeface="Aptos"/>
              </a:defRPr>
            </a:pPr>
            <a:r>
              <a:t>Matching features: account name, website, account number, DUNS, phone, and geography</a:t>
            </a:r>
          </a:p>
          <a:p>
            <a:pPr algn="l">
              <a:defRPr sz="2100">
                <a:latin typeface="Aptos"/>
              </a:defRPr>
            </a:pPr>
            <a:r>
              <a:t>Outputs: duplicate candidate pairs, confidence score, match explanations, review flag</a:t>
            </a:r>
          </a:p>
          <a:p>
            <a:pPr algn="l">
              <a:defRPr sz="2100">
                <a:latin typeface="Aptos"/>
              </a:defRPr>
            </a:pPr>
            <a:r>
              <a:t>Purpose: improve account quality before export and avoid fragmented activation downstream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latin typeface="Aptos Display"/>
              </a:defRPr>
            </a:pPr>
            <a:r>
              <a:t>How Hierarchy Stitching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100">
                <a:latin typeface="Aptos"/>
              </a:defRPr>
            </a:pPr>
            <a:r>
              <a:t>Primary inputs: crm_account and crm_account_hierarchy_edge</a:t>
            </a:r>
          </a:p>
          <a:p>
            <a:pPr algn="l">
              <a:defRPr sz="2100">
                <a:latin typeface="Aptos"/>
              </a:defRPr>
            </a:pPr>
            <a:r>
              <a:t>Uses CRM ParentId as the baseline and expands edges into a hierarchy graph</a:t>
            </a:r>
          </a:p>
          <a:p>
            <a:pPr algn="l">
              <a:defRPr sz="2100">
                <a:latin typeface="Aptos"/>
              </a:defRPr>
            </a:pPr>
            <a:r>
              <a:t>Calculates depth, path, rollups, and uncovered subsidiary signals</a:t>
            </a:r>
          </a:p>
          <a:p>
            <a:pPr algn="l">
              <a:defRPr sz="2100">
                <a:latin typeface="Aptos"/>
              </a:defRPr>
            </a:pPr>
            <a:r>
              <a:t>Purpose: support group-wide account views and enterprise-level activation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latin typeface="Aptos Display"/>
              </a:defRPr>
            </a:pPr>
            <a:r>
              <a:t>How Enrichment and Scoring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100">
                <a:latin typeface="Aptos"/>
              </a:defRPr>
            </a:pPr>
            <a:r>
              <a:t>Inputs: account, contact, opportunity, product, and line item context</a:t>
            </a:r>
          </a:p>
          <a:p>
            <a:pPr algn="l">
              <a:defRPr sz="2100">
                <a:latin typeface="Aptos"/>
              </a:defRPr>
            </a:pPr>
            <a:r>
              <a:t>Enrichment examples: primary brand, active product count, open opportunities, freshness</a:t>
            </a:r>
          </a:p>
          <a:p>
            <a:pPr algn="l">
              <a:defRPr sz="2100">
                <a:latin typeface="Aptos"/>
              </a:defRPr>
            </a:pPr>
            <a:r>
              <a:t>Scoring examples: identity confidence, validity score, health score, cross-sell propensity, competitor risk</a:t>
            </a:r>
          </a:p>
          <a:p>
            <a:pPr algn="l">
              <a:defRPr sz="2100">
                <a:latin typeface="Aptos"/>
              </a:defRPr>
            </a:pPr>
            <a:r>
              <a:t>Purpose: convert raw CRM records into decision-ready account intelligence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latin typeface="Aptos Display"/>
              </a:defRPr>
            </a:pPr>
            <a:r>
              <a:t>How Gold Export Uses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100">
                <a:latin typeface="Aptos"/>
              </a:defRPr>
            </a:pPr>
            <a:r>
              <a:t>The export layer joins intelligence outputs back onto crm_account_id</a:t>
            </a:r>
          </a:p>
          <a:p>
            <a:pPr algn="l">
              <a:defRPr sz="2100">
                <a:latin typeface="Aptos"/>
              </a:defRPr>
            </a:pPr>
            <a:r>
              <a:t>It keeps the account key CRM-safe for activation</a:t>
            </a:r>
          </a:p>
          <a:p>
            <a:pPr algn="l">
              <a:defRPr sz="2100">
                <a:latin typeface="Aptos"/>
              </a:defRPr>
            </a:pPr>
            <a:r>
              <a:t>Important objects: account_export_base, account_core_export, datacloud_export_accounts</a:t>
            </a:r>
          </a:p>
          <a:p>
            <a:pPr algn="l">
              <a:defRPr sz="2100">
                <a:latin typeface="Aptos"/>
              </a:defRPr>
            </a:pPr>
            <a:r>
              <a:t>Critical rule: source_account_id = crm_account_id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latin typeface="Aptos Display"/>
              </a:defRPr>
            </a:pPr>
            <a:r>
              <a:t>Data Cloud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100">
                <a:latin typeface="Aptos"/>
              </a:defRPr>
            </a:pPr>
            <a:r>
              <a:t>Databricks export lands as a Data Lake Object</a:t>
            </a:r>
          </a:p>
          <a:p>
            <a:pPr algn="l">
              <a:defRPr sz="2100">
                <a:latin typeface="Aptos"/>
              </a:defRPr>
            </a:pPr>
            <a:r>
              <a:t>Fields map into Data Model Objects such as Account</a:t>
            </a:r>
          </a:p>
          <a:p>
            <a:pPr algn="l">
              <a:defRPr sz="2100">
                <a:latin typeface="Aptos"/>
              </a:defRPr>
            </a:pPr>
            <a:r>
              <a:t>Calculated insights and activation logic run in Data Cloud</a:t>
            </a:r>
          </a:p>
          <a:p>
            <a:pPr algn="l">
              <a:defRPr sz="2100">
                <a:latin typeface="Aptos"/>
              </a:defRPr>
            </a:pPr>
            <a:r>
              <a:t>Enriched values are then published back to Salesforce CRM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latin typeface="Aptos Display"/>
              </a:defRPr>
            </a:pPr>
            <a:r>
              <a:t>What Is Already 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100">
                <a:latin typeface="Aptos"/>
              </a:defRPr>
            </a:pPr>
            <a:r>
              <a:t>CRM to Databricks bronze ingestion is live</a:t>
            </a:r>
          </a:p>
          <a:p>
            <a:pPr algn="l">
              <a:defRPr sz="2100">
                <a:latin typeface="Aptos"/>
              </a:defRPr>
            </a:pPr>
            <a:r>
              <a:t>silver_salesforce normalization is live</a:t>
            </a:r>
          </a:p>
          <a:p>
            <a:pPr algn="l">
              <a:defRPr sz="2100">
                <a:latin typeface="Aptos"/>
              </a:defRPr>
            </a:pPr>
            <a:r>
              <a:t>CRM-key-safe gold account export is live</a:t>
            </a:r>
          </a:p>
          <a:p>
            <a:pPr algn="l">
              <a:defRPr sz="2100">
                <a:latin typeface="Aptos"/>
              </a:defRPr>
            </a:pPr>
            <a:r>
              <a:t>Data Cloud DMO custom fields and Salesforce Account target fields now exist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latin typeface="Aptos Display"/>
              </a:defRPr>
            </a:pPr>
            <a:r>
              <a:t>What Still Needs To Move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100">
                <a:latin typeface="Aptos"/>
              </a:defRPr>
            </a:pPr>
            <a:r>
              <a:t>Existing dedupe logic must be rebased onto silver_salesforce</a:t>
            </a:r>
          </a:p>
          <a:p>
            <a:pPr algn="l">
              <a:defRPr sz="2100">
                <a:latin typeface="Aptos"/>
              </a:defRPr>
            </a:pPr>
            <a:r>
              <a:t>Existing hierarchy graph logic must be rebased onto silver_salesforce</a:t>
            </a:r>
          </a:p>
          <a:p>
            <a:pPr algn="l">
              <a:defRPr sz="2100">
                <a:latin typeface="Aptos"/>
              </a:defRPr>
            </a:pPr>
            <a:r>
              <a:t>Existing firmographic enrichment must be rebased onto silver_salesforce</a:t>
            </a:r>
          </a:p>
          <a:p>
            <a:pPr algn="l">
              <a:defRPr sz="2100">
                <a:latin typeface="Aptos"/>
              </a:defRPr>
            </a:pPr>
            <a:r>
              <a:t>Legacy synthetic-account assumptions must be removed from remaining gold jobs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latin typeface="Aptos Display"/>
              </a:defRPr>
            </a:pPr>
            <a:r>
              <a:t>High-Level Design Principle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100">
                <a:latin typeface="Aptos"/>
              </a:defRPr>
            </a:pPr>
            <a:r>
              <a:t>CRM is the operational source of truth</a:t>
            </a:r>
          </a:p>
          <a:p>
            <a:pPr algn="l">
              <a:defRPr sz="2100">
                <a:latin typeface="Aptos"/>
              </a:defRPr>
            </a:pPr>
            <a:r>
              <a:t>Databricks performs cleansing, matching, hierarchy, and scoring</a:t>
            </a:r>
          </a:p>
          <a:p>
            <a:pPr algn="l">
              <a:defRPr sz="2100">
                <a:latin typeface="Aptos"/>
              </a:defRPr>
            </a:pPr>
            <a:r>
              <a:t>Data Cloud performs canonical mapping and activation</a:t>
            </a:r>
          </a:p>
          <a:p>
            <a:pPr algn="l">
              <a:defRPr sz="2100">
                <a:latin typeface="Aptos"/>
              </a:defRPr>
            </a:pPr>
            <a:r>
              <a:t>Salesforce CRM remains the execution surface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latin typeface="Aptos Display"/>
              </a:defRPr>
            </a:pPr>
            <a:r>
              <a:t>Immediate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100">
                <a:latin typeface="Aptos"/>
              </a:defRPr>
            </a:pPr>
            <a:r>
              <a:t>1. Rebase dedupe, hierarchy, and enrichment jobs onto silver_salesforce</a:t>
            </a:r>
          </a:p>
          <a:p>
            <a:pPr algn="l">
              <a:defRPr sz="2100">
                <a:latin typeface="Aptos"/>
              </a:defRPr>
            </a:pPr>
            <a:r>
              <a:t>2. Regenerate datacloud_export_accounts from those CRM-key-safe outputs</a:t>
            </a:r>
          </a:p>
          <a:p>
            <a:pPr algn="l">
              <a:defRPr sz="2100">
                <a:latin typeface="Aptos"/>
              </a:defRPr>
            </a:pPr>
            <a:r>
              <a:t>3. Refresh the Data Cloud stream and revalidate mapping</a:t>
            </a:r>
          </a:p>
          <a:p>
            <a:pPr algn="l">
              <a:defRPr sz="2100">
                <a:latin typeface="Aptos"/>
              </a:defRPr>
            </a:pPr>
            <a:r>
              <a:t>4. Run activation to Salesforce Account and verify live field updates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